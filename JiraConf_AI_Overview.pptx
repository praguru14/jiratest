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JiraConf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19456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CDE1F0"/>
                </a:solidFill>
                <a:latin typeface="Aptos"/>
              </a:rPr>
              <a:t>AI-assisted release-note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97180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Project overview, architecture, workflow, and reuse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534924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A639"/>
                </a:solidFill>
                <a:latin typeface="Aptos"/>
              </a:rPr>
              <a:t>Jira -&gt; LLM -&gt; Review -&gt; HTML -&gt; Confluence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2440"/>
                </a:solidFill>
                <a:latin typeface="Aptos"/>
              </a:rPr>
              <a:t>What the project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979"/>
                </a:solidFill>
                <a:latin typeface="Aptos"/>
              </a:rPr>
              <a:t>The business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143000" cy="64008"/>
          </a:xfrm>
          <a:prstGeom prst="rect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22440"/>
                </a:solidFill>
                <a:latin typeface="Aptos"/>
              </a:rPr>
              <a:t>JiraConf AI turns completed sprint work into publishable customer communication.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303D"/>
                </a:solidFill>
                <a:latin typeface="Aptos"/>
              </a:defRPr>
            </a:pPr>
            <a:r>
              <a:t>Reads completed Jira tickets for a selected sprint.</a:t>
            </a:r>
          </a:p>
          <a:p>
            <a:pPr>
              <a:spcAft>
                <a:spcPts val="1000"/>
              </a:spcAft>
              <a:defRPr sz="1900">
                <a:solidFill>
                  <a:srgbClr val="26303D"/>
                </a:solidFill>
                <a:latin typeface="Aptos"/>
              </a:defRPr>
            </a:pPr>
            <a:r>
              <a:t>Uses an LLM to write one customer-friendly note per ticket.</a:t>
            </a:r>
          </a:p>
          <a:p>
            <a:pPr>
              <a:spcAft>
                <a:spcPts val="1000"/>
              </a:spcAft>
              <a:defRPr sz="1900">
                <a:solidFill>
                  <a:srgbClr val="26303D"/>
                </a:solidFill>
                <a:latin typeface="Aptos"/>
              </a:defRPr>
            </a:pPr>
            <a:r>
              <a:t>Reviews the generated notes before publication.</a:t>
            </a:r>
          </a:p>
          <a:p>
            <a:pPr>
              <a:spcAft>
                <a:spcPts val="1000"/>
              </a:spcAft>
              <a:defRPr sz="1900">
                <a:solidFill>
                  <a:srgbClr val="26303D"/>
                </a:solidFill>
                <a:latin typeface="Aptos"/>
              </a:defRPr>
            </a:pPr>
            <a:r>
              <a:t>Builds an HTML table and creates or updates a Confluence page.</a:t>
            </a:r>
          </a:p>
          <a:p>
            <a:pPr>
              <a:spcAft>
                <a:spcPts val="1000"/>
              </a:spcAft>
              <a:defRPr sz="1900">
                <a:solidFill>
                  <a:srgbClr val="26303D"/>
                </a:solidFill>
                <a:latin typeface="Aptos"/>
              </a:defRPr>
            </a:pPr>
            <a:r>
              <a:t>Verifies that the published page contains the expected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2440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979"/>
                </a:solidFill>
                <a:latin typeface="Aptos"/>
              </a:rPr>
              <a:t>Adapters, agents, models, and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143000" cy="64008"/>
          </a:xfrm>
          <a:prstGeom prst="rect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1645920" cy="566928"/>
          </a:xfrm>
          <a:prstGeom prst="roundRect">
            <a:avLst/>
          </a:prstGeom>
          <a:solidFill>
            <a:srgbClr val="122440"/>
          </a:solidFill>
          <a:ln>
            <a:solidFill>
              <a:srgbClr val="12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2404872"/>
            <a:ext cx="14996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main.py
or run_agent.py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31720" y="2377440"/>
            <a:ext cx="411480" cy="292608"/>
          </a:xfrm>
          <a:prstGeom prst="rightArrow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2240280"/>
            <a:ext cx="1645920" cy="566928"/>
          </a:xfrm>
          <a:prstGeom prst="roundRect">
            <a:avLst/>
          </a:prstGeom>
          <a:solidFill>
            <a:srgbClr val="1E9191"/>
          </a:solidFill>
          <a:ln>
            <a:solidFill>
              <a:srgbClr val="1E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2404872"/>
            <a:ext cx="14996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WorkflowAgent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572000" y="2377440"/>
            <a:ext cx="411480" cy="292608"/>
          </a:xfrm>
          <a:prstGeom prst="rightArrow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2011680"/>
            <a:ext cx="1645920" cy="1024128"/>
          </a:xfrm>
          <a:prstGeom prst="roundRect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2176272"/>
            <a:ext cx="149961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Planner
Release
Reviewer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812280" y="2377440"/>
            <a:ext cx="411480" cy="292608"/>
          </a:xfrm>
          <a:prstGeom prst="rightArrow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0" y="2240280"/>
            <a:ext cx="1554480" cy="566928"/>
          </a:xfrm>
          <a:prstGeom prst="roundRect">
            <a:avLst/>
          </a:prstGeom>
          <a:solidFill>
            <a:srgbClr val="E8A639"/>
          </a:solidFill>
          <a:ln>
            <a:solidFill>
              <a:srgbClr val="E8A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2404872"/>
            <a:ext cx="14081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LLMAdapter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61120" y="2377440"/>
            <a:ext cx="411480" cy="292608"/>
          </a:xfrm>
          <a:prstGeom prst="rightArrow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64040" y="2011680"/>
            <a:ext cx="2057400" cy="1024128"/>
          </a:xfrm>
          <a:prstGeom prst="roundRect">
            <a:avLst/>
          </a:prstGeom>
          <a:solidFill>
            <a:srgbClr val="1E9191"/>
          </a:solidFill>
          <a:ln>
            <a:solidFill>
              <a:srgbClr val="1E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37192" y="2176272"/>
            <a:ext cx="19110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Local / Ollama /
Gemini / Remote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069080"/>
            <a:ext cx="3154680" cy="132588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069080"/>
            <a:ext cx="82296" cy="1325880"/>
          </a:xfrm>
          <a:prstGeom prst="rect">
            <a:avLst/>
          </a:prstGeom>
          <a:solidFill>
            <a:srgbClr val="23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2336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Data adapters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636008"/>
            <a:ext cx="2743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JiraAgent reads boards, sprints, and Done issues. ConfluenceAgent manages pages and verifies publication.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4069080"/>
            <a:ext cx="3154680" cy="132588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26280" y="4069080"/>
            <a:ext cx="82296" cy="132588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42336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Content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636008"/>
            <a:ext cx="2743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PromptLoader, JSON parsing, Jira formatting, HTMLBuilder, and TemplateLoader keep behavior modular.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4069080"/>
            <a:ext cx="3154680" cy="132588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4069080"/>
            <a:ext cx="82296" cy="1325880"/>
          </a:xfrm>
          <a:prstGeom prst="rect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2336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636008"/>
            <a:ext cx="2743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Confluence storage HTML with a table containing S.No, label, ticket number, and description.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2440"/>
                </a:solidFill>
                <a:latin typeface="Aptos"/>
              </a:rPr>
              <a:t>The agent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979"/>
                </a:solidFill>
                <a:latin typeface="Aptos"/>
              </a:rPr>
              <a:t>A bounded observe-decide-act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143000" cy="64008"/>
          </a:xfrm>
          <a:prstGeom prst="rect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194560"/>
            <a:ext cx="1371600" cy="713232"/>
          </a:xfrm>
          <a:prstGeom prst="roundRect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2359152"/>
            <a:ext cx="1225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FETCH
TICKETS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38528" y="2404872"/>
            <a:ext cx="292608" cy="292608"/>
          </a:xfrm>
          <a:prstGeom prst="rightArrow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67128" y="2194560"/>
            <a:ext cx="1371600" cy="713232"/>
          </a:xfrm>
          <a:prstGeom prst="roundRect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2359152"/>
            <a:ext cx="1225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INSPECT
CONFLUENCE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02736" y="2404872"/>
            <a:ext cx="292608" cy="292608"/>
          </a:xfrm>
          <a:prstGeom prst="rightArrow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31336" y="2194560"/>
            <a:ext cx="1371600" cy="713232"/>
          </a:xfrm>
          <a:prstGeom prst="roundRect">
            <a:avLst/>
          </a:prstGeom>
          <a:solidFill>
            <a:srgbClr val="1E9191"/>
          </a:solidFill>
          <a:ln>
            <a:solidFill>
              <a:srgbClr val="1E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8" y="2359152"/>
            <a:ext cx="1225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GENERATE
NOTES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266944" y="2404872"/>
            <a:ext cx="292608" cy="292608"/>
          </a:xfrm>
          <a:prstGeom prst="rightArrow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95544" y="2194560"/>
            <a:ext cx="1371600" cy="713232"/>
          </a:xfrm>
          <a:prstGeom prst="roundRect">
            <a:avLst/>
          </a:prstGeom>
          <a:solidFill>
            <a:srgbClr val="1E9191"/>
          </a:solidFill>
          <a:ln>
            <a:solidFill>
              <a:srgbClr val="1E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68696" y="2359152"/>
            <a:ext cx="1225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REVIEW
NOTES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31152" y="2404872"/>
            <a:ext cx="292608" cy="292608"/>
          </a:xfrm>
          <a:prstGeom prst="rightArrow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59752" y="2194560"/>
            <a:ext cx="1371600" cy="713232"/>
          </a:xfrm>
          <a:prstGeom prst="roundRect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2904" y="2359152"/>
            <a:ext cx="1225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UPLOAD
PAGE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595360" y="2404872"/>
            <a:ext cx="292608" cy="292608"/>
          </a:xfrm>
          <a:prstGeom prst="rightArrow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23960" y="2194560"/>
            <a:ext cx="1371600" cy="713232"/>
          </a:xfrm>
          <a:prstGeom prst="roundRect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97112" y="2359152"/>
            <a:ext cx="1225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VERIFY
PAGE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259568" y="2404872"/>
            <a:ext cx="292608" cy="292608"/>
          </a:xfrm>
          <a:prstGeom prst="rightArrow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88168" y="2194560"/>
            <a:ext cx="1371600" cy="713232"/>
          </a:xfrm>
          <a:prstGeom prst="roundRect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2359152"/>
            <a:ext cx="12252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FINISH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8620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22440"/>
                </a:solidFill>
                <a:latin typeface="Aptos"/>
              </a:rPr>
              <a:t>The planner proposes the next action. The controller checks prerequisites, limits the run to 12 steps, retries failures, and prevents upload before review.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074920"/>
            <a:ext cx="8138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8A639"/>
                </a:solidFill>
                <a:latin typeface="Aptos"/>
              </a:rPr>
              <a:t>This is the project's main agentic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2440"/>
                </a:solidFill>
                <a:latin typeface="Aptos"/>
              </a:rPr>
              <a:t>How release notes are generated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979"/>
                </a:solidFill>
                <a:latin typeface="Aptos"/>
              </a:rPr>
              <a:t>The LLM writes content; the template controls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143000" cy="64008"/>
          </a:xfrm>
          <a:prstGeom prst="rect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82296" cy="1417320"/>
          </a:xfrm>
          <a:prstGeom prst="rect">
            <a:avLst/>
          </a:prstGeom>
          <a:solidFill>
            <a:srgbClr val="23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1. Prepare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292607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Each Jira issue is formatted with key, type, summary, labels, priority, and description.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45920"/>
            <a:ext cx="333756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82296" cy="141732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105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2. Generate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12848"/>
            <a:ext cx="292607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release_prompt.txt requires one object: label, ticket_number, and description.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33756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82296" cy="1417320"/>
          </a:xfrm>
          <a:prstGeom prst="rect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810512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3. Validate and retry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12848"/>
            <a:ext cx="292607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Responses are parsed, checked, and retried. Missing descriptions can fall back to Jira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886200"/>
            <a:ext cx="333756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3886200"/>
            <a:ext cx="82296" cy="141732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4050791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4.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453128"/>
            <a:ext cx="292607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The complete array is sent to reviewer_prompt.txt. Valid notes continue to publishing.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886200"/>
            <a:ext cx="333756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886200"/>
            <a:ext cx="82296" cy="1417320"/>
          </a:xfrm>
          <a:prstGeom prst="rect">
            <a:avLst/>
          </a:prstGeom>
          <a:solidFill>
            <a:srgbClr val="23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050791"/>
            <a:ext cx="2926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5. 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53128"/>
            <a:ext cx="2926079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HTMLBuilder loads release_notes.html and replaces {{SPRINT_NAME}} and {{TABLE_ROWS}}.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2440"/>
                </a:solidFill>
                <a:latin typeface="Aptos"/>
              </a:rPr>
              <a:t>The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979"/>
                </a:solidFill>
                <a:latin typeface="Aptos"/>
              </a:rPr>
              <a:t>What each component is responsible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143000" cy="64008"/>
          </a:xfrm>
          <a:prstGeom prst="rect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74720" cy="123444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82296" cy="1234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WorkflowAgent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3063239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Orchestrates actions, state, recovery, safety checks, and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474720" cy="123444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82296" cy="1234440"/>
          </a:xfrm>
          <a:prstGeom prst="rect">
            <a:avLst/>
          </a:prstGeom>
          <a:solidFill>
            <a:srgbClr val="23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1907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PlannerAgent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21408"/>
            <a:ext cx="3063239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Asks the LLM to choose the next available workflow 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474720" cy="123444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54480"/>
            <a:ext cx="82296" cy="1234440"/>
          </a:xfrm>
          <a:prstGeom prst="rect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1907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ReleaseAgent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21408"/>
            <a:ext cx="3063239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Creates one structured note per Jira issue, with retries and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03320"/>
            <a:ext cx="3474720" cy="123444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03320"/>
            <a:ext cx="82296" cy="1234440"/>
          </a:xfrm>
          <a:prstGeom prst="rect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67911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ReviewerAgent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70248"/>
            <a:ext cx="3063239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Checks the full note set against the release-note policy.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703320"/>
            <a:ext cx="3474720" cy="123444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703320"/>
            <a:ext cx="82296" cy="12344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867911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JiraAgent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70248"/>
            <a:ext cx="3063239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Wraps the Jira Python client and exposes project-specific data operations.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703320"/>
            <a:ext cx="3474720" cy="123444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703320"/>
            <a:ext cx="82296" cy="1234440"/>
          </a:xfrm>
          <a:prstGeom prst="rect">
            <a:avLst/>
          </a:prstGeom>
          <a:solidFill>
            <a:srgbClr val="23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867911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ConfluenceAgent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270248"/>
            <a:ext cx="3063239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Wraps the Confluence client and handles page creation, update, and checks.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2440"/>
                </a:solidFill>
                <a:latin typeface="Aptos"/>
              </a:rPr>
              <a:t>Models and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979"/>
                </a:solidFill>
                <a:latin typeface="Aptos"/>
              </a:rPr>
              <a:t>The model is replaceable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143000" cy="64008"/>
          </a:xfrm>
          <a:prstGeom prst="rect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6492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LLMAdapter selects the provider using LLM_PROVIDER.</a:t>
            </a:r>
          </a:p>
          <a:p>
            <a:pPr>
              <a:spcAft>
                <a:spcPts val="10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Local: Hugging Face Transformers and PyTorch.</a:t>
            </a:r>
          </a:p>
          <a:p>
            <a:pPr>
              <a:spcAft>
                <a:spcPts val="10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Ollama: local HTTP endpoint, configurable model.</a:t>
            </a:r>
          </a:p>
          <a:p>
            <a:pPr>
              <a:spcAft>
                <a:spcPts val="10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Gemini: Google REST API using GEMINI_API_KEY.</a:t>
            </a:r>
          </a:p>
          <a:p>
            <a:pPr>
              <a:spcAft>
                <a:spcPts val="10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Remote: Hugging Face-style endpoint using HF_API_URL and HF_API_TOKEN.</a:t>
            </a:r>
          </a:p>
          <a:p>
            <a:pPr>
              <a:spcAft>
                <a:spcPts val="10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Planner, release, and reviewer behavior is controlled by text files in prompts/.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965960"/>
            <a:ext cx="3429000" cy="201168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965960"/>
            <a:ext cx="82296" cy="201168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13055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Key design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32888"/>
            <a:ext cx="3017520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The rest of the application uses one generate(system_prompt, user_prompt) interface. Changing the model provider does not require rewriting the agents.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2440"/>
                </a:solidFill>
                <a:latin typeface="Aptos"/>
              </a:rPr>
              <a:t>What MCP would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979"/>
                </a:solidFill>
                <a:latin typeface="Aptos"/>
              </a:rPr>
              <a:t>MCP is a tool connection standard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143000" cy="64008"/>
          </a:xfrm>
          <a:prstGeom prst="rect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920240" cy="566928"/>
          </a:xfrm>
          <a:prstGeom prst="roundRect">
            <a:avLst/>
          </a:prstGeom>
          <a:solidFill>
            <a:srgbClr val="122440"/>
          </a:solidFill>
          <a:ln>
            <a:solidFill>
              <a:srgbClr val="12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04872"/>
            <a:ext cx="1773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WorkflowAgent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71800" y="2450592"/>
            <a:ext cx="502920" cy="292608"/>
          </a:xfrm>
          <a:prstGeom prst="rightArrow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0" y="2240280"/>
            <a:ext cx="1920240" cy="566928"/>
          </a:xfrm>
          <a:prstGeom prst="roundRect">
            <a:avLst/>
          </a:prstGeom>
          <a:solidFill>
            <a:srgbClr val="1E9191"/>
          </a:solidFill>
          <a:ln>
            <a:solidFill>
              <a:srgbClr val="1E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0752" y="2404872"/>
            <a:ext cx="177393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MCP client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06440" y="2450592"/>
            <a:ext cx="502920" cy="292608"/>
          </a:xfrm>
          <a:prstGeom prst="rightArrow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2057400"/>
            <a:ext cx="2103120" cy="1078992"/>
          </a:xfrm>
          <a:prstGeom prst="roundRect">
            <a:avLst/>
          </a:prstGeom>
          <a:solidFill>
            <a:srgbClr val="2367B2"/>
          </a:solidFill>
          <a:ln>
            <a:solidFill>
              <a:srgbClr val="23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221992"/>
            <a:ext cx="195681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Jira MCP
Confluence MCP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23960" y="2450592"/>
            <a:ext cx="502920" cy="292608"/>
          </a:xfrm>
          <a:prstGeom prst="rightArrow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09760" y="2057400"/>
            <a:ext cx="1828800" cy="1078992"/>
          </a:xfrm>
          <a:prstGeom prst="roundRect">
            <a:avLst/>
          </a:prstGeom>
          <a:solidFill>
            <a:srgbClr val="E8A639"/>
          </a:solidFill>
          <a:ln>
            <a:solidFill>
              <a:srgbClr val="E8A6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82912" y="2221992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External
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122440"/>
                </a:solidFill>
                <a:latin typeface="Aptos"/>
              </a:rPr>
              <a:t>MCP would standardize how tools are discovered and called. It would not automatically make the project more intelligent or autonomous.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074920"/>
            <a:ext cx="8503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C6979"/>
                </a:solidFill>
                <a:latin typeface="Aptos"/>
              </a:rPr>
              <a:t>Current project: direct Jira and Confluence API clients.
Possible future: replace those adapters with MCP clients.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2440"/>
                </a:solidFill>
                <a:latin typeface="Aptos"/>
              </a:rPr>
              <a:t>Reuse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979"/>
                </a:solidFill>
                <a:latin typeface="Aptos"/>
              </a:rPr>
              <a:t>The same pattern can support other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143000" cy="64008"/>
          </a:xfrm>
          <a:prstGeom prst="rect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6303D"/>
                </a:solidFill>
                <a:latin typeface="Aptos"/>
              </a:defRPr>
            </a:pPr>
            <a:r>
              <a:t>Incident summaries and postmortems</a:t>
            </a:r>
          </a:p>
          <a:p>
            <a:pPr>
              <a:spcAft>
                <a:spcPts val="1000"/>
              </a:spcAft>
              <a:defRPr sz="1900">
                <a:solidFill>
                  <a:srgbClr val="26303D"/>
                </a:solidFill>
                <a:latin typeface="Aptos"/>
              </a:defRPr>
            </a:pPr>
            <a:r>
              <a:t>Customer-support response generation</a:t>
            </a:r>
          </a:p>
          <a:p>
            <a:pPr>
              <a:spcAft>
                <a:spcPts val="1000"/>
              </a:spcAft>
              <a:defRPr sz="1900">
                <a:solidFill>
                  <a:srgbClr val="26303D"/>
                </a:solidFill>
                <a:latin typeface="Aptos"/>
              </a:defRPr>
            </a:pPr>
            <a:r>
              <a:t>Sprint and project status reports</a:t>
            </a:r>
          </a:p>
          <a:p>
            <a:pPr>
              <a:spcAft>
                <a:spcPts val="1000"/>
              </a:spcAft>
              <a:defRPr sz="1900">
                <a:solidFill>
                  <a:srgbClr val="26303D"/>
                </a:solidFill>
                <a:latin typeface="Aptos"/>
              </a:defRPr>
            </a:pPr>
            <a:r>
              <a:t>Product documentation and changelog generation</a:t>
            </a:r>
          </a:p>
          <a:p>
            <a:pPr>
              <a:spcAft>
                <a:spcPts val="1000"/>
              </a:spcAft>
              <a:defRPr sz="1900">
                <a:solidFill>
                  <a:srgbClr val="26303D"/>
                </a:solidFill>
                <a:latin typeface="Aptos"/>
              </a:defRPr>
            </a:pPr>
            <a:r>
              <a:t>Ticket classification and prioritization</a:t>
            </a:r>
          </a:p>
          <a:p>
            <a:pPr>
              <a:spcAft>
                <a:spcPts val="1000"/>
              </a:spcAft>
              <a:defRPr sz="1900">
                <a:solidFill>
                  <a:srgbClr val="26303D"/>
                </a:solidFill>
                <a:latin typeface="Aptos"/>
              </a:defRPr>
            </a:pPr>
            <a:r>
              <a:t>Compliance, audit, or security reports</a:t>
            </a:r>
          </a:p>
          <a:p>
            <a:pPr>
              <a:spcAft>
                <a:spcPts val="1000"/>
              </a:spcAft>
              <a:defRPr sz="1900">
                <a:solidFill>
                  <a:srgbClr val="26303D"/>
                </a:solidFill>
                <a:latin typeface="Aptos"/>
              </a:defRPr>
            </a:pPr>
            <a:r>
              <a:t>Publishing to email, Slack, SharePoint, databases, or other APIs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148840"/>
            <a:ext cx="3474720" cy="205740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2148840"/>
            <a:ext cx="82296" cy="2057400"/>
          </a:xfrm>
          <a:prstGeom prst="rect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231343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What to customize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715768"/>
            <a:ext cx="3063239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Replace the data adapter, change the prompts and JSON schema, update the output template, and redefine the workflow 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2440"/>
                </a:solidFill>
                <a:latin typeface="Aptos"/>
              </a:rPr>
              <a:t>Current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979"/>
                </a:solidFill>
                <a:latin typeface="Aptos"/>
              </a:rPr>
              <a:t>Important before production reuse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143000" cy="64008"/>
          </a:xfrm>
          <a:prstGeom prst="rect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766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Jira query is hard-coded to a project, sprint, Done status, and 100 issues.</a:t>
            </a:r>
          </a:p>
          <a:p>
            <a:pPr>
              <a:spcAft>
                <a:spcPts val="10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Existing-page checks compare row counts, not ticket identities.</a:t>
            </a:r>
          </a:p>
          <a:p>
            <a:pPr>
              <a:spcAft>
                <a:spcPts val="10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HTML values are inserted without escaping.</a:t>
            </a:r>
          </a:p>
          <a:p>
            <a:pPr>
              <a:spcAft>
                <a:spcPts val="10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Updating an existing page requires interactive confirmation.</a:t>
            </a:r>
          </a:p>
          <a:p>
            <a:pPr>
              <a:spcAft>
                <a:spcPts val="10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Testing is limited; test_llm.py is a smoke script rather than a test suite.</a:t>
            </a:r>
          </a:p>
          <a:p>
            <a:pPr>
              <a:spcAft>
                <a:spcPts val="1000"/>
              </a:spcAft>
              <a:defRPr sz="1800">
                <a:solidFill>
                  <a:srgbClr val="26303D"/>
                </a:solidFill>
                <a:latin typeface="Aptos"/>
              </a:defRPr>
            </a:pPr>
            <a:r>
              <a:t>The architecture diagram is stale and the README needs repair.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148840"/>
            <a:ext cx="3154680" cy="2148840"/>
          </a:xfrm>
          <a:prstGeom prst="roundRect">
            <a:avLst/>
          </a:prstGeom>
          <a:solidFill>
            <a:srgbClr val="F3F7FB"/>
          </a:solidFill>
          <a:ln>
            <a:solidFill>
              <a:srgbClr val="DB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2148840"/>
            <a:ext cx="82296" cy="2148840"/>
          </a:xfrm>
          <a:prstGeom prst="rect">
            <a:avLst/>
          </a:prstGeom>
          <a:solidFill>
            <a:srgbClr val="1E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23134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440"/>
                </a:solidFill>
                <a:latin typeface="Aptos"/>
              </a:rPr>
              <a:t>Recommended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715768"/>
            <a:ext cx="2743200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6303D"/>
                </a:solidFill>
                <a:latin typeface="Aptos"/>
              </a:rPr>
              <a:t>Add structured tests, escape HTML, make integrations configurable, support headless updates, and compare ticket IDs during verification.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22440"/>
                </a:solidFill>
                <a:latin typeface="Aptos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C6979"/>
                </a:solidFill>
                <a:latin typeface="Aptos"/>
              </a:rPr>
              <a:t>The reusable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143000" cy="64008"/>
          </a:xfrm>
          <a:prstGeom prst="rect">
            <a:avLst/>
          </a:prstGeom>
          <a:solidFill>
            <a:srgbClr val="E8A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22440"/>
                </a:solidFill>
                <a:latin typeface="Aptos"/>
              </a:rPr>
              <a:t>JiraConf AI is more than a release-note template.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14600"/>
            <a:ext cx="9784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0">
                <a:solidFill>
                  <a:srgbClr val="26303D"/>
                </a:solidFill>
                <a:latin typeface="Aptos"/>
              </a:rPr>
              <a:t>It is a planner-driven workflow engine with replaceable data sources, LLM providers, prompts, validators, and output templates.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977639"/>
            <a:ext cx="8961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E9191"/>
                </a:solidFill>
                <a:latin typeface="Aptos"/>
              </a:rPr>
              <a:t>MCP can make the tool connections more portable.
The agentic behavior comes from the observe -&gt; decide -&gt; act -&gt; verify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C6979"/>
                </a:solidFill>
                <a:latin typeface="Aptos"/>
              </a:rPr>
              <a:t>Source: JiraConf project files and PROJECT_GUIDE.md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